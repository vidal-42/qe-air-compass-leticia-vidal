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Archivo Black" panose="020B0604020202020204" charset="0"/>
      <p:regular r:id="rId16"/>
    </p:embeddedFont>
    <p:embeddedFont>
      <p:font typeface="Garet" panose="020B0604020202020204" charset="0"/>
      <p:regular r:id="rId17"/>
    </p:embeddedFont>
    <p:embeddedFont>
      <p:font typeface="Garet Bold" panose="020B0604020202020204" charset="0"/>
      <p:regular r:id="rId18"/>
    </p:embeddedFont>
    <p:embeddedFont>
      <p:font typeface="Garet Light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26" d="100"/>
          <a:sy n="26" d="100"/>
        </p:scale>
        <p:origin x="1330" y="2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tícia Kamille Vidal Gomes" userId="cd4fc288fceb18ac" providerId="LiveId" clId="{A585F8DF-1DDF-4AE7-8F59-6BD096A16A80}"/>
    <pc:docChg chg="custSel modSld">
      <pc:chgData name="Letícia Kamille Vidal Gomes" userId="cd4fc288fceb18ac" providerId="LiveId" clId="{A585F8DF-1DDF-4AE7-8F59-6BD096A16A80}" dt="2026-01-05T14:36:37.363" v="2" actId="14100"/>
      <pc:docMkLst>
        <pc:docMk/>
      </pc:docMkLst>
      <pc:sldChg chg="delSp mod">
        <pc:chgData name="Letícia Kamille Vidal Gomes" userId="cd4fc288fceb18ac" providerId="LiveId" clId="{A585F8DF-1DDF-4AE7-8F59-6BD096A16A80}" dt="2026-01-05T14:36:13.979" v="0" actId="478"/>
        <pc:sldMkLst>
          <pc:docMk/>
          <pc:sldMk cId="0" sldId="261"/>
        </pc:sldMkLst>
        <pc:spChg chg="del">
          <ac:chgData name="Letícia Kamille Vidal Gomes" userId="cd4fc288fceb18ac" providerId="LiveId" clId="{A585F8DF-1DDF-4AE7-8F59-6BD096A16A80}" dt="2026-01-05T14:36:13.979" v="0" actId="478"/>
          <ac:spMkLst>
            <pc:docMk/>
            <pc:sldMk cId="0" sldId="261"/>
            <ac:spMk id="5" creationId="{00000000-0000-0000-0000-000000000000}"/>
          </ac:spMkLst>
        </pc:spChg>
      </pc:sldChg>
      <pc:sldChg chg="delSp modSp mod">
        <pc:chgData name="Letícia Kamille Vidal Gomes" userId="cd4fc288fceb18ac" providerId="LiveId" clId="{A585F8DF-1DDF-4AE7-8F59-6BD096A16A80}" dt="2026-01-05T14:36:37.363" v="2" actId="14100"/>
        <pc:sldMkLst>
          <pc:docMk/>
          <pc:sldMk cId="0" sldId="262"/>
        </pc:sldMkLst>
        <pc:spChg chg="del">
          <ac:chgData name="Letícia Kamille Vidal Gomes" userId="cd4fc288fceb18ac" providerId="LiveId" clId="{A585F8DF-1DDF-4AE7-8F59-6BD096A16A80}" dt="2026-01-05T14:36:33.381" v="1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Letícia Kamille Vidal Gomes" userId="cd4fc288fceb18ac" providerId="LiveId" clId="{A585F8DF-1DDF-4AE7-8F59-6BD096A16A80}" dt="2026-01-05T14:36:37.363" v="2" actId="14100"/>
          <ac:spMkLst>
            <pc:docMk/>
            <pc:sldMk cId="0" sldId="262"/>
            <ac:spMk id="1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028700" y="633266"/>
            <a:ext cx="1584485" cy="1055663"/>
          </a:xfrm>
          <a:custGeom>
            <a:avLst/>
            <a:gdLst/>
            <a:ahLst/>
            <a:cxnLst/>
            <a:rect l="l" t="t" r="r" b="b"/>
            <a:pathLst>
              <a:path w="1584485" h="1055663">
                <a:moveTo>
                  <a:pt x="0" y="0"/>
                </a:moveTo>
                <a:lnTo>
                  <a:pt x="1584485" y="0"/>
                </a:lnTo>
                <a:lnTo>
                  <a:pt x="1584485" y="1055663"/>
                </a:lnTo>
                <a:lnTo>
                  <a:pt x="0" y="1055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16147776" y="8239890"/>
            <a:ext cx="1111524" cy="1111524"/>
          </a:xfrm>
          <a:custGeom>
            <a:avLst/>
            <a:gdLst/>
            <a:ahLst/>
            <a:cxnLst/>
            <a:rect l="l" t="t" r="r" b="b"/>
            <a:pathLst>
              <a:path w="1111524" h="1111524">
                <a:moveTo>
                  <a:pt x="0" y="0"/>
                </a:moveTo>
                <a:lnTo>
                  <a:pt x="1111524" y="0"/>
                </a:lnTo>
                <a:lnTo>
                  <a:pt x="1111524" y="1111523"/>
                </a:lnTo>
                <a:lnTo>
                  <a:pt x="0" y="1111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7885470" y="6394076"/>
            <a:ext cx="9373830" cy="370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Conceitos e aplicações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8732418"/>
            <a:ext cx="3366096" cy="236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9"/>
              </a:lnSpc>
              <a:spcBef>
                <a:spcPct val="0"/>
              </a:spcBef>
            </a:pPr>
            <a:r>
              <a:rPr lang="en-US" sz="1599" b="1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APRESENTADO POR: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9021445"/>
            <a:ext cx="3366096" cy="236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9"/>
              </a:lnSpc>
              <a:spcBef>
                <a:spcPct val="0"/>
              </a:spcBef>
            </a:pPr>
            <a:r>
              <a:rPr lang="en-US" sz="1599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SQUAD 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78203" y="943948"/>
            <a:ext cx="1799958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Compass UOL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05/01/2026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25291" y="3788708"/>
            <a:ext cx="12034009" cy="2659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0123"/>
              </a:lnSpc>
            </a:pPr>
            <a:r>
              <a:rPr lang="en-US" sz="10885" spc="-85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TESTES EXPLORATÓRIOS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841400" y="97077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00/13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pt-BR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9891165" y="1814513"/>
          <a:ext cx="6463635" cy="5896373"/>
        </p:xfrm>
        <a:graphic>
          <a:graphicData uri="http://schemas.openxmlformats.org/drawingml/2006/table">
            <a:tbl>
              <a:tblPr/>
              <a:tblGrid>
                <a:gridCol w="1200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30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1927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Apresentação da Squad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927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O que são Testes Exploratórios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5546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03-05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Por que Testes Exploratórios são usados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5546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06-08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Principais Técnicas de Testes Exploratórios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1927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11-12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Exemplos de Uso e Limitações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1927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13 e 14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Referencias e conclusão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Freeform 4"/>
          <p:cNvSpPr/>
          <p:nvPr/>
        </p:nvSpPr>
        <p:spPr>
          <a:xfrm>
            <a:off x="-706637" y="1559650"/>
            <a:ext cx="9125543" cy="7167700"/>
          </a:xfrm>
          <a:custGeom>
            <a:avLst/>
            <a:gdLst/>
            <a:ahLst/>
            <a:cxnLst/>
            <a:rect l="l" t="t" r="r" b="b"/>
            <a:pathLst>
              <a:path w="9125543" h="7167700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1604641" y="2439692"/>
            <a:ext cx="6531462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FC8001"/>
                </a:solidFill>
                <a:latin typeface="Archivo Black"/>
                <a:ea typeface="Archivo Black"/>
                <a:cs typeface="Archivo Black"/>
                <a:sym typeface="Archivo Black"/>
              </a:rPr>
              <a:t>Tópicos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841400" y="97077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01/13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2968136" y="3515759"/>
            <a:ext cx="12351728" cy="14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Testes exploratórios são testes feitos sem roteiros fixos, onde o testador aprende sobre o sistema enquanto testa, buscando falhas e comportamentos inesperados como um usuário real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18443" y="1305325"/>
            <a:ext cx="13051114" cy="775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99"/>
              </a:lnSpc>
              <a:spcBef>
                <a:spcPct val="0"/>
              </a:spcBef>
            </a:pPr>
            <a:r>
              <a:rPr lang="en-US" sz="5799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 que são testes exploratorios?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841400" y="97077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02/14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92083" y="5986953"/>
            <a:ext cx="5903834" cy="2360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Objetivo</a:t>
            </a:r>
          </a:p>
          <a:p>
            <a:pPr marL="582925" lvl="1" indent="-291463" algn="ctr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Encontrar falhas não previstas</a:t>
            </a:r>
          </a:p>
          <a:p>
            <a:pPr marL="582925" lvl="1" indent="-291463" algn="ctr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Identificar comportamentos inesperados</a:t>
            </a:r>
          </a:p>
          <a:p>
            <a:pPr marL="582925" lvl="1" indent="-291463" algn="ctr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Simular o uso real do usuário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AutoShape 3"/>
          <p:cNvSpPr/>
          <p:nvPr/>
        </p:nvSpPr>
        <p:spPr>
          <a:xfrm flipV="1">
            <a:off x="17264062" y="-1230211"/>
            <a:ext cx="0" cy="18873133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/>
          <p:cNvSpPr/>
          <p:nvPr/>
        </p:nvSpPr>
        <p:spPr>
          <a:xfrm>
            <a:off x="-585133" y="9434847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 rot="-10800000">
            <a:off x="13634624" y="0"/>
            <a:ext cx="2611028" cy="411480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7" y="0"/>
                </a:lnTo>
                <a:lnTo>
                  <a:pt x="26110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1028700" y="1442085"/>
            <a:ext cx="12997270" cy="1519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Por que usar testes exploratórios?</a:t>
            </a:r>
          </a:p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endParaRPr lang="en-US" sz="5808" spc="-458">
              <a:solidFill>
                <a:srgbClr val="00000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3603426"/>
            <a:ext cx="12997270" cy="3789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 uso de testes exploratórios é justificado pela sua capacidade de descobrir riscos desconhecidos e falhas complexas que roteiros rígidos (scripts) não conseguem prever. Eles são altamente eficientes em ambientes </a:t>
            </a: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Agile</a:t>
            </a: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e </a:t>
            </a: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DevOps</a:t>
            </a: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, pois eliminam o custo inicial de criação e manutenção de documentação exaustiva, permitindo que o teste comece assim que o código é entregue. Além disso, essa abordagem combate o "</a:t>
            </a: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paradoxo do pesticida</a:t>
            </a: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", garantindo que o testador não fique limitado a repetir verificações que já não encontram novos defeitos.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841400" y="97077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8307737" y="4067055"/>
            <a:ext cx="1672526" cy="702461"/>
          </a:xfrm>
          <a:custGeom>
            <a:avLst/>
            <a:gdLst/>
            <a:ahLst/>
            <a:cxnLst/>
            <a:rect l="l" t="t" r="r" b="b"/>
            <a:pathLst>
              <a:path w="1672526" h="702461">
                <a:moveTo>
                  <a:pt x="0" y="0"/>
                </a:moveTo>
                <a:lnTo>
                  <a:pt x="1672526" y="0"/>
                </a:lnTo>
                <a:lnTo>
                  <a:pt x="1672526" y="702460"/>
                </a:lnTo>
                <a:lnTo>
                  <a:pt x="0" y="7024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 rot="-10800000">
            <a:off x="14380464" y="-1022170"/>
            <a:ext cx="2430459" cy="3830236"/>
          </a:xfrm>
          <a:custGeom>
            <a:avLst/>
            <a:gdLst/>
            <a:ahLst/>
            <a:cxnLst/>
            <a:rect l="l" t="t" r="r" b="b"/>
            <a:pathLst>
              <a:path w="2430459" h="3830236">
                <a:moveTo>
                  <a:pt x="0" y="0"/>
                </a:moveTo>
                <a:lnTo>
                  <a:pt x="2430459" y="0"/>
                </a:lnTo>
                <a:lnTo>
                  <a:pt x="2430459" y="3830236"/>
                </a:lnTo>
                <a:lnTo>
                  <a:pt x="0" y="38302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7"/>
          <p:cNvSpPr/>
          <p:nvPr/>
        </p:nvSpPr>
        <p:spPr>
          <a:xfrm>
            <a:off x="913851" y="3288817"/>
            <a:ext cx="4036695" cy="2258936"/>
          </a:xfrm>
          <a:custGeom>
            <a:avLst/>
            <a:gdLst/>
            <a:ahLst/>
            <a:cxnLst/>
            <a:rect l="l" t="t" r="r" b="b"/>
            <a:pathLst>
              <a:path w="4036695" h="2258936">
                <a:moveTo>
                  <a:pt x="0" y="0"/>
                </a:moveTo>
                <a:lnTo>
                  <a:pt x="4036695" y="0"/>
                </a:lnTo>
                <a:lnTo>
                  <a:pt x="4036695" y="2258936"/>
                </a:lnTo>
                <a:lnTo>
                  <a:pt x="0" y="22589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464" b="-146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8"/>
          <p:cNvSpPr/>
          <p:nvPr/>
        </p:nvSpPr>
        <p:spPr>
          <a:xfrm>
            <a:off x="13337454" y="3255741"/>
            <a:ext cx="4036695" cy="2325087"/>
          </a:xfrm>
          <a:custGeom>
            <a:avLst/>
            <a:gdLst/>
            <a:ahLst/>
            <a:cxnLst/>
            <a:rect l="l" t="t" r="r" b="b"/>
            <a:pathLst>
              <a:path w="4036695" h="2325087">
                <a:moveTo>
                  <a:pt x="0" y="0"/>
                </a:moveTo>
                <a:lnTo>
                  <a:pt x="4036695" y="0"/>
                </a:lnTo>
                <a:lnTo>
                  <a:pt x="4036695" y="2325088"/>
                </a:lnTo>
                <a:lnTo>
                  <a:pt x="0" y="23250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TextBox 9"/>
          <p:cNvSpPr txBox="1"/>
          <p:nvPr/>
        </p:nvSpPr>
        <p:spPr>
          <a:xfrm>
            <a:off x="1028700" y="1442085"/>
            <a:ext cx="8275355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Os principais objetivos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420667"/>
            <a:ext cx="8823356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Os objetivos mais comuns do uso dos teses exploratórios são: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5272508"/>
            <a:ext cx="380699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Investigação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240501" y="5061978"/>
            <a:ext cx="3806998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Aprendizado Contínuo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4020" y="6225008"/>
            <a:ext cx="5016359" cy="1851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9"/>
              </a:lnSpc>
              <a:spcBef>
                <a:spcPct val="0"/>
              </a:spcBef>
            </a:pP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Explorar o sistema para encontrar comportamentos emergentes e erros de lógica ou usabilidade que escapam aos casos de teste formais.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35821" y="6225008"/>
            <a:ext cx="5016359" cy="148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Integr</a:t>
            </a: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ar a aquisição de conhecimento sobre o software diretamente ao processo de design e execução do teste em tempo real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447799" y="5337941"/>
            <a:ext cx="380699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Otimização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47622" y="6225008"/>
            <a:ext cx="5016359" cy="1851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Adaptar </a:t>
            </a: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 estratégia de teste instantaneamente para focar em áreas que apresentam sinais de maior risco durante a interação com o sistema.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841400" y="97077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04/13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>
            <a:off x="2000216" y="2080260"/>
            <a:ext cx="1634269" cy="1654956"/>
          </a:xfrm>
          <a:custGeom>
            <a:avLst/>
            <a:gdLst/>
            <a:ahLst/>
            <a:cxnLst/>
            <a:rect l="l" t="t" r="r" b="b"/>
            <a:pathLst>
              <a:path w="1634269" h="1654956">
                <a:moveTo>
                  <a:pt x="0" y="0"/>
                </a:moveTo>
                <a:lnTo>
                  <a:pt x="1634269" y="0"/>
                </a:lnTo>
                <a:lnTo>
                  <a:pt x="1634269" y="1654956"/>
                </a:lnTo>
                <a:lnTo>
                  <a:pt x="0" y="16549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7"/>
          <p:cNvSpPr/>
          <p:nvPr/>
        </p:nvSpPr>
        <p:spPr>
          <a:xfrm>
            <a:off x="8372343" y="2520346"/>
            <a:ext cx="1543313" cy="1120831"/>
          </a:xfrm>
          <a:custGeom>
            <a:avLst/>
            <a:gdLst/>
            <a:ahLst/>
            <a:cxnLst/>
            <a:rect l="l" t="t" r="r" b="b"/>
            <a:pathLst>
              <a:path w="1543313" h="1120831">
                <a:moveTo>
                  <a:pt x="0" y="0"/>
                </a:moveTo>
                <a:lnTo>
                  <a:pt x="1543314" y="0"/>
                </a:lnTo>
                <a:lnTo>
                  <a:pt x="1543314" y="1120831"/>
                </a:lnTo>
                <a:lnTo>
                  <a:pt x="0" y="11208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8"/>
          <p:cNvSpPr/>
          <p:nvPr/>
        </p:nvSpPr>
        <p:spPr>
          <a:xfrm>
            <a:off x="14382445" y="2426308"/>
            <a:ext cx="1241826" cy="1308908"/>
          </a:xfrm>
          <a:custGeom>
            <a:avLst/>
            <a:gdLst/>
            <a:ahLst/>
            <a:cxnLst/>
            <a:rect l="l" t="t" r="r" b="b"/>
            <a:pathLst>
              <a:path w="1241826" h="1308908">
                <a:moveTo>
                  <a:pt x="0" y="0"/>
                </a:moveTo>
                <a:lnTo>
                  <a:pt x="1241826" y="0"/>
                </a:lnTo>
                <a:lnTo>
                  <a:pt x="1241826" y="1308908"/>
                </a:lnTo>
                <a:lnTo>
                  <a:pt x="0" y="13089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TextBox 9"/>
          <p:cNvSpPr txBox="1"/>
          <p:nvPr/>
        </p:nvSpPr>
        <p:spPr>
          <a:xfrm>
            <a:off x="3482562" y="284955"/>
            <a:ext cx="11322876" cy="1519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Principais Técnicas de Testes Exploratórios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3851" y="4194765"/>
            <a:ext cx="380699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Heurísticas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125652" y="4180226"/>
            <a:ext cx="380699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Tours de Teste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1156" y="5699545"/>
            <a:ext cx="5353345" cy="2836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Ata</a:t>
            </a:r>
            <a:r>
              <a:rPr lang="en-US" sz="2700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lhos cognitivos para tomada de decisão;</a:t>
            </a:r>
          </a:p>
          <a:p>
            <a:pPr marL="582930" lvl="1" indent="-291465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Métodos informais e baseados em experiência;</a:t>
            </a:r>
          </a:p>
          <a:p>
            <a:pPr marL="582930" lvl="1" indent="-291465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Muito usadas em contextos de incerteza.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099859" y="4194765"/>
            <a:ext cx="380699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Charters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26812" y="4848225"/>
            <a:ext cx="3806998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(Amos Tversky e Daniel Kahneman)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85873" y="5368510"/>
            <a:ext cx="5716254" cy="2836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8" lvl="1" indent="-291464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Software</a:t>
            </a:r>
            <a:r>
              <a:rPr lang="en-US" sz="26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como uma cidade dividida em distritos;</a:t>
            </a:r>
          </a:p>
          <a:p>
            <a:pPr marL="582928" lvl="1" indent="-291464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Testador como um turista;</a:t>
            </a:r>
          </a:p>
          <a:p>
            <a:pPr marL="582928" lvl="1" indent="-291464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Exploração guiada por objetivos.</a:t>
            </a:r>
          </a:p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endParaRPr lang="en-US" sz="2699" u="none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125652" y="4873210"/>
            <a:ext cx="3806998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(James Whittaker)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237575" y="4892260"/>
            <a:ext cx="6050425" cy="331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8" lvl="1" indent="-291464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Documento que orienta sessões de teste exploratório;</a:t>
            </a:r>
          </a:p>
          <a:p>
            <a:pPr marL="582928" lvl="1" indent="-291464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Objetivo da sessão;</a:t>
            </a:r>
          </a:p>
          <a:p>
            <a:pPr marL="582928" lvl="1" indent="-291464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Escopo e duração;</a:t>
            </a:r>
          </a:p>
          <a:p>
            <a:pPr marL="582928" lvl="1" indent="-291464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Funcionalidades e riscos;</a:t>
            </a:r>
          </a:p>
          <a:p>
            <a:pPr marL="582928" lvl="1" indent="-291464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Ferramentas e registros;</a:t>
            </a:r>
          </a:p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endParaRPr lang="en-US" sz="26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3841400" y="97077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05/13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4486395" y="76752"/>
            <a:ext cx="8467115" cy="659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50"/>
              </a:lnSpc>
            </a:pPr>
            <a:r>
              <a:rPr lang="en-US" sz="4557" spc="-36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Heurísticas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35270" y="1143746"/>
            <a:ext cx="3232439" cy="815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60"/>
              </a:lnSpc>
              <a:spcBef>
                <a:spcPct val="0"/>
              </a:spcBef>
            </a:pPr>
            <a:r>
              <a:rPr lang="en-US" sz="2717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Heurística FEW HICCUPPS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68877" y="1343771"/>
            <a:ext cx="3232439" cy="815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60"/>
              </a:lnSpc>
              <a:spcBef>
                <a:spcPct val="0"/>
              </a:spcBef>
            </a:pPr>
            <a:r>
              <a:rPr lang="en-US" sz="2717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Heurística SFDIPOT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1296" y="2054393"/>
            <a:ext cx="5337528" cy="5893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234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</a:t>
            </a:r>
            <a:r>
              <a:rPr lang="en-US" sz="234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– Familiarity (Familiaridade)</a:t>
            </a:r>
          </a:p>
          <a:p>
            <a:pPr algn="l">
              <a:lnSpc>
                <a:spcPts val="3947"/>
              </a:lnSpc>
            </a:pPr>
            <a:r>
              <a:rPr lang="en-US" sz="234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 </a:t>
            </a:r>
            <a:r>
              <a:rPr lang="en-US" sz="234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– Explainability (Explicabilidade)</a:t>
            </a:r>
          </a:p>
          <a:p>
            <a:pPr algn="l">
              <a:lnSpc>
                <a:spcPts val="3947"/>
              </a:lnSpc>
            </a:pPr>
            <a:r>
              <a:rPr lang="en-US" sz="234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W</a:t>
            </a:r>
            <a:r>
              <a:rPr lang="en-US" sz="234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– World (Mundo Real)</a:t>
            </a:r>
          </a:p>
          <a:p>
            <a:pPr algn="l">
              <a:lnSpc>
                <a:spcPts val="3947"/>
              </a:lnSpc>
            </a:pPr>
            <a:r>
              <a:rPr lang="en-US" sz="234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</a:t>
            </a:r>
            <a:r>
              <a:rPr lang="en-US" sz="234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– History (Histórico)</a:t>
            </a:r>
          </a:p>
          <a:p>
            <a:pPr algn="l">
              <a:lnSpc>
                <a:spcPts val="3947"/>
              </a:lnSpc>
            </a:pPr>
            <a:r>
              <a:rPr lang="en-US" sz="234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</a:t>
            </a:r>
            <a:r>
              <a:rPr lang="en-US" sz="234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– Image (Imagem da Empresa)</a:t>
            </a:r>
          </a:p>
          <a:p>
            <a:pPr algn="l">
              <a:lnSpc>
                <a:spcPts val="3947"/>
              </a:lnSpc>
            </a:pPr>
            <a:r>
              <a:rPr lang="en-US" sz="234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</a:t>
            </a:r>
            <a:r>
              <a:rPr lang="en-US" sz="234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Comparable Products (Produtos Comparáveis)</a:t>
            </a:r>
          </a:p>
          <a:p>
            <a:pPr algn="l">
              <a:lnSpc>
                <a:spcPts val="3947"/>
              </a:lnSpc>
            </a:pPr>
            <a:r>
              <a:rPr lang="en-US" sz="234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U </a:t>
            </a:r>
            <a:r>
              <a:rPr lang="en-US" sz="234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- Users' Desires (Desejos dos Usuários)</a:t>
            </a:r>
          </a:p>
          <a:p>
            <a:pPr marL="0" lvl="0" indent="0" algn="l">
              <a:lnSpc>
                <a:spcPts val="3947"/>
              </a:lnSpc>
            </a:pPr>
            <a:r>
              <a:rPr lang="en-US" sz="234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</a:t>
            </a:r>
            <a:r>
              <a:rPr lang="en-US" sz="234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- Purpose (Propósito)</a:t>
            </a:r>
          </a:p>
          <a:p>
            <a:pPr marL="0" lvl="0" indent="0" algn="l">
              <a:lnSpc>
                <a:spcPts val="3947"/>
              </a:lnSpc>
            </a:pPr>
            <a:r>
              <a:rPr lang="en-US" sz="2349" b="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</a:t>
            </a:r>
            <a:r>
              <a:rPr lang="en-US" sz="234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Product (Produto)</a:t>
            </a:r>
          </a:p>
          <a:p>
            <a:pPr marL="0" lvl="0" indent="0" algn="l">
              <a:lnSpc>
                <a:spcPts val="3947"/>
              </a:lnSpc>
            </a:pPr>
            <a:r>
              <a:rPr lang="en-US" sz="2349" b="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 </a:t>
            </a:r>
            <a:r>
              <a:rPr lang="en-US" sz="234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- Statutes (Estatutos)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350077" y="1124696"/>
            <a:ext cx="4309226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8"/>
              </a:lnSpc>
              <a:spcBef>
                <a:spcPct val="0"/>
              </a:spcBef>
            </a:pPr>
            <a:r>
              <a:rPr lang="en-US" sz="2506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RCRCRC: Heurística para Teste de Regressão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88416" y="2331952"/>
            <a:ext cx="4393362" cy="3492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4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 - </a:t>
            </a: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Structure (Estrutura) </a:t>
            </a:r>
          </a:p>
          <a:p>
            <a:pPr algn="l">
              <a:lnSpc>
                <a:spcPts val="4032"/>
              </a:lnSpc>
            </a:pPr>
            <a:r>
              <a:rPr lang="en-US" sz="24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 - </a:t>
            </a: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Function (Função)</a:t>
            </a:r>
          </a:p>
          <a:p>
            <a:pPr algn="l">
              <a:lnSpc>
                <a:spcPts val="4032"/>
              </a:lnSpc>
            </a:pPr>
            <a:r>
              <a:rPr lang="en-US" sz="24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 - </a:t>
            </a: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 (Dados)</a:t>
            </a:r>
          </a:p>
          <a:p>
            <a:pPr algn="l">
              <a:lnSpc>
                <a:spcPts val="4032"/>
              </a:lnSpc>
            </a:pPr>
            <a:r>
              <a:rPr lang="en-US" sz="24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 - </a:t>
            </a: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Interfaces:</a:t>
            </a:r>
          </a:p>
          <a:p>
            <a:pPr algn="l">
              <a:lnSpc>
                <a:spcPts val="4032"/>
              </a:lnSpc>
            </a:pPr>
            <a:r>
              <a:rPr lang="en-US" sz="24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</a:t>
            </a: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Platform (Plataforma)</a:t>
            </a:r>
          </a:p>
          <a:p>
            <a:pPr marL="0" lvl="0" indent="0" algn="l">
              <a:lnSpc>
                <a:spcPts val="4032"/>
              </a:lnSpc>
            </a:pPr>
            <a:r>
              <a:rPr lang="en-US" sz="24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 - </a:t>
            </a: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Operatins (Operações)</a:t>
            </a:r>
          </a:p>
          <a:p>
            <a:pPr marL="0" lvl="0" indent="0" algn="l">
              <a:lnSpc>
                <a:spcPts val="4032"/>
              </a:lnSpc>
            </a:pPr>
            <a:r>
              <a:rPr lang="en-US" sz="2400" b="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 - </a:t>
            </a:r>
            <a:r>
              <a:rPr lang="en-US" sz="2400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Time (Tempo)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412495" y="2331952"/>
            <a:ext cx="5451097" cy="2987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4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</a:t>
            </a: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Recent (Recente)</a:t>
            </a:r>
          </a:p>
          <a:p>
            <a:pPr algn="l">
              <a:lnSpc>
                <a:spcPts val="4032"/>
              </a:lnSpc>
            </a:pPr>
            <a:r>
              <a:rPr lang="en-US" sz="24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 </a:t>
            </a: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- Core (Núcleo):</a:t>
            </a:r>
          </a:p>
          <a:p>
            <a:pPr algn="l">
              <a:lnSpc>
                <a:spcPts val="4032"/>
              </a:lnSpc>
            </a:pPr>
            <a:r>
              <a:rPr lang="en-US" sz="24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</a:t>
            </a: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Risky (Arriscado):</a:t>
            </a:r>
          </a:p>
          <a:p>
            <a:pPr algn="l">
              <a:lnSpc>
                <a:spcPts val="4032"/>
              </a:lnSpc>
            </a:pPr>
            <a:r>
              <a:rPr lang="en-US" sz="24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</a:t>
            </a: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Configuration (Configuração)</a:t>
            </a:r>
          </a:p>
          <a:p>
            <a:pPr marL="0" lvl="0" indent="0" algn="l">
              <a:lnSpc>
                <a:spcPts val="4032"/>
              </a:lnSpc>
            </a:pPr>
            <a:r>
              <a:rPr lang="en-US" sz="24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</a:t>
            </a: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Repaired (Reparado)</a:t>
            </a:r>
          </a:p>
          <a:p>
            <a:pPr marL="0" lvl="0" indent="0" algn="l">
              <a:lnSpc>
                <a:spcPts val="4032"/>
              </a:lnSpc>
            </a:pPr>
            <a:r>
              <a:rPr lang="en-US" sz="2400" b="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</a:t>
            </a:r>
            <a:r>
              <a:rPr lang="en-US" sz="2400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Chronic (Crônico)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296" y="8395276"/>
            <a:ext cx="5716954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Mnemônica para identificar inconsistências que indicam problemas de qualidade.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147090" y="8004751"/>
            <a:ext cx="5240925" cy="154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Organiza o software em dimensões testáveis, garantindo que aspectos não funcionais ou estruturais não sejam esquecidos.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74912" y="8238118"/>
            <a:ext cx="5326261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Direciona o testador sobre onde focar 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esforços quando uma nova versão é 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lançada.</a:t>
            </a:r>
          </a:p>
        </p:txBody>
      </p:sp>
      <p:sp>
        <p:nvSpPr>
          <p:cNvPr id="14" name="AutoShape 14"/>
          <p:cNvSpPr/>
          <p:nvPr/>
        </p:nvSpPr>
        <p:spPr>
          <a:xfrm flipV="1">
            <a:off x="0" y="900226"/>
            <a:ext cx="18288000" cy="8954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5" name="AutoShape 15"/>
          <p:cNvSpPr/>
          <p:nvPr/>
        </p:nvSpPr>
        <p:spPr>
          <a:xfrm flipH="1" flipV="1">
            <a:off x="5822957" y="895463"/>
            <a:ext cx="0" cy="9391537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6" name="AutoShape 16"/>
          <p:cNvSpPr/>
          <p:nvPr/>
        </p:nvSpPr>
        <p:spPr>
          <a:xfrm flipH="1" flipV="1">
            <a:off x="11809775" y="895463"/>
            <a:ext cx="0" cy="9386774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Box 17"/>
          <p:cNvSpPr txBox="1"/>
          <p:nvPr/>
        </p:nvSpPr>
        <p:spPr>
          <a:xfrm>
            <a:off x="13841400" y="97077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06/13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28700" y="1308588"/>
            <a:ext cx="3652068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03"/>
              </a:lnSpc>
              <a:spcBef>
                <a:spcPct val="0"/>
              </a:spcBef>
            </a:pPr>
            <a:r>
              <a:rPr lang="en-US" sz="3169" b="1" spc="-5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Business District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14343" y="1316542"/>
            <a:ext cx="3763982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6"/>
              </a:lnSpc>
              <a:spcBef>
                <a:spcPct val="0"/>
              </a:spcBef>
            </a:pPr>
            <a:r>
              <a:rPr lang="en-US" sz="3263" b="1" spc="-5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Historic District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0547" y="1961515"/>
            <a:ext cx="4812213" cy="236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7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spc="-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Guidebo</a:t>
            </a:r>
            <a:r>
              <a:rPr lang="en-US" sz="2699" u="none" spc="-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ok Tour;</a:t>
            </a:r>
          </a:p>
          <a:p>
            <a:pPr marL="582927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u="none" spc="-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Money Tour;</a:t>
            </a:r>
          </a:p>
          <a:p>
            <a:pPr marL="582927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u="none" spc="-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Landmark Tour;</a:t>
            </a:r>
          </a:p>
          <a:p>
            <a:pPr marL="582927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u="none" spc="-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Intellectual Tour;</a:t>
            </a:r>
          </a:p>
          <a:p>
            <a:pPr marL="582927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u="none" spc="-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FedEx Tour;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311900" y="1344762"/>
            <a:ext cx="4665400" cy="457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78"/>
              </a:lnSpc>
              <a:spcBef>
                <a:spcPct val="0"/>
              </a:spcBef>
            </a:pPr>
            <a:r>
              <a:rPr lang="en-US" sz="3065" b="1" spc="-4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Entertainment District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86395" y="-32572"/>
            <a:ext cx="8467115" cy="1149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20"/>
              </a:lnSpc>
            </a:pPr>
            <a:r>
              <a:rPr lang="en-US" sz="4000" spc="-31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 Metáfora dos Tours de Teste (James Whittaker)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0547" y="6771781"/>
            <a:ext cx="3652068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03"/>
              </a:lnSpc>
              <a:spcBef>
                <a:spcPct val="0"/>
              </a:spcBef>
            </a:pPr>
            <a:r>
              <a:rPr lang="en-US" sz="3169" b="1" spc="-5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Tourist District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0547" y="7467106"/>
            <a:ext cx="4812213" cy="14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8" lvl="1" indent="-291464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spc="-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</a:t>
            </a:r>
            <a:r>
              <a:rPr lang="en-US" sz="2699" u="none" spc="-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ollector Tour;</a:t>
            </a:r>
          </a:p>
          <a:p>
            <a:pPr marL="582928" lvl="1" indent="-291464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u="none" spc="-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Supermodel;</a:t>
            </a:r>
          </a:p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endParaRPr lang="en-US" sz="2699" u="none" spc="-8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614486" y="6771781"/>
            <a:ext cx="3652068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03"/>
              </a:lnSpc>
              <a:spcBef>
                <a:spcPct val="0"/>
              </a:spcBef>
            </a:pPr>
            <a:r>
              <a:rPr lang="en-US" sz="3169" b="1" spc="-5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Hotel District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50472" y="7390906"/>
            <a:ext cx="4812213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8" lvl="1" indent="-291464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u="none" spc="-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Couch Potato Tour.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312042" y="6771781"/>
            <a:ext cx="3019944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03"/>
              </a:lnSpc>
              <a:spcBef>
                <a:spcPct val="0"/>
              </a:spcBef>
            </a:pPr>
            <a:r>
              <a:rPr lang="en-US" sz="3169" b="1" spc="-5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Seedy District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311900" y="7467106"/>
            <a:ext cx="5269958" cy="14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8" lvl="1" indent="-291464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spc="-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699" u="none" spc="-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aboteur tour;</a:t>
            </a:r>
          </a:p>
          <a:p>
            <a:pPr marL="582928" lvl="1" indent="-291464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u="none" spc="-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Antisocial tour.</a:t>
            </a:r>
          </a:p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endParaRPr lang="en-US" sz="2699" u="none" spc="-8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450472" y="1998345"/>
            <a:ext cx="4812213" cy="14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7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u="none" spc="-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Museum Tour;</a:t>
            </a:r>
          </a:p>
          <a:p>
            <a:pPr marL="582927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u="none" spc="-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Prior Version Tour.</a:t>
            </a:r>
          </a:p>
          <a:p>
            <a:pPr algn="l">
              <a:lnSpc>
                <a:spcPts val="3779"/>
              </a:lnSpc>
            </a:pPr>
            <a:endParaRPr lang="en-US" sz="2699" u="none" spc="-8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312042" y="1961515"/>
            <a:ext cx="4812213" cy="188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7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spc="-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Supp</a:t>
            </a:r>
            <a:r>
              <a:rPr lang="en-US" sz="2699" u="none" spc="-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orting Actor;</a:t>
            </a:r>
          </a:p>
          <a:p>
            <a:pPr marL="582927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u="none" spc="-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Back Alley;</a:t>
            </a:r>
          </a:p>
          <a:p>
            <a:pPr marL="582927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u="none" spc="-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All-Nighter ou Clubbing tours.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90227" y="4801870"/>
            <a:ext cx="5585786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Projetado para aumentar as vendas. Focado em funcionalidades 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principais e lucrativas.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62142" y="4801870"/>
            <a:ext cx="4118235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Focado em código legado e versões anteriores.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11900" y="4801870"/>
            <a:ext cx="4566838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Focado em funcionalidades auxiliares.</a:t>
            </a:r>
          </a:p>
        </p:txBody>
      </p:sp>
      <p:sp>
        <p:nvSpPr>
          <p:cNvPr id="19" name="AutoShape 19"/>
          <p:cNvSpPr/>
          <p:nvPr/>
        </p:nvSpPr>
        <p:spPr>
          <a:xfrm>
            <a:off x="-415975" y="6497638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0" name="AutoShape 20"/>
          <p:cNvSpPr/>
          <p:nvPr/>
        </p:nvSpPr>
        <p:spPr>
          <a:xfrm flipV="1">
            <a:off x="-1291284" y="1195994"/>
            <a:ext cx="19579276" cy="34013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Box 21"/>
          <p:cNvSpPr txBox="1"/>
          <p:nvPr/>
        </p:nvSpPr>
        <p:spPr>
          <a:xfrm>
            <a:off x="504080" y="8869045"/>
            <a:ext cx="5285146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Focado em visitantes superficiais.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332065" y="8869045"/>
            <a:ext cx="5437138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Focado em descanso e passividade.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312042" y="8827277"/>
            <a:ext cx="5793581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Focado em vulnerabilidades e limites.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841400" y="97077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07/13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491131" y="1133475"/>
            <a:ext cx="9469306" cy="1509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99"/>
              </a:lnSpc>
            </a:pPr>
            <a:r>
              <a:rPr lang="en-US" sz="5799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Exemplos de uso dos testes exploratórios</a:t>
            </a:r>
          </a:p>
        </p:txBody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FC800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1491131" y="3297343"/>
            <a:ext cx="14912671" cy="93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Aplicaçã</a:t>
            </a:r>
            <a:r>
              <a:rPr lang="en-US" sz="2699" b="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 em sistemas novos: </a:t>
            </a:r>
            <a:r>
              <a:rPr lang="en-US" sz="26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quando ainda não há casos de teste documentados, o exploratório ajuda a descobrir falhas rapidamente.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91131" y="4766627"/>
            <a:ext cx="14773942" cy="93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Funcionalidad</a:t>
            </a:r>
            <a:r>
              <a:rPr lang="en-US" sz="2699" b="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es críticas: </a:t>
            </a:r>
            <a:r>
              <a:rPr lang="en-US" sz="26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login, checkout em e-commerce, transferências bancárias, onde erros podem gerar impacto grande.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91131" y="6235911"/>
            <a:ext cx="14773942" cy="93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Complemento aos test</a:t>
            </a:r>
            <a:r>
              <a:rPr lang="en-US" sz="2699" b="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es automatizados: </a:t>
            </a:r>
            <a:r>
              <a:rPr lang="en-US" sz="26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enquanto os scripts cobrem cenários previstos, o exploratório encontra problemas inesperados.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91131" y="7700856"/>
            <a:ext cx="14773942" cy="93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Ambientes ágeis: </a:t>
            </a:r>
            <a:r>
              <a:rPr lang="en-US" sz="26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em squads, durante sprints curtos, é útil para validar rapidamente incrementos de software.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841400" y="97077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08/13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491131" y="1725084"/>
            <a:ext cx="9469306" cy="775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99"/>
              </a:lnSpc>
            </a:pPr>
            <a:r>
              <a:rPr lang="en-US" sz="5799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Exemplo prático</a:t>
            </a:r>
          </a:p>
        </p:txBody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FC800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1481606" y="3615478"/>
            <a:ext cx="14912671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</a:t>
            </a:r>
            <a:r>
              <a:rPr lang="en-US" sz="26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 tester explora o fluxo de cadastro de usuário sem roteiro pré-definido.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91131" y="4546600"/>
            <a:ext cx="5109129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El</a:t>
            </a:r>
            <a:r>
              <a:rPr lang="en-US" sz="2699" b="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 tenta inputs diferentes: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91131" y="5188585"/>
            <a:ext cx="4507968" cy="14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7" lvl="1" indent="-291463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Nome muito long</a:t>
            </a:r>
            <a:r>
              <a:rPr lang="en-US" sz="26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</a:t>
            </a:r>
          </a:p>
          <a:p>
            <a:pPr marL="582927" lvl="1" indent="-291463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Caracteres especiais</a:t>
            </a:r>
          </a:p>
          <a:p>
            <a:pPr marL="582927" lvl="1" indent="-291463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E-mail inválido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91131" y="7072630"/>
            <a:ext cx="14773942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Resultado: </a:t>
            </a: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descobr</a:t>
            </a:r>
            <a:r>
              <a:rPr lang="en-US" sz="26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 falhas que não estavam previstas nos testes automatizados.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841400" y="97077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09/13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491131" y="1133475"/>
            <a:ext cx="10324804" cy="775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99"/>
              </a:lnSpc>
            </a:pPr>
            <a:r>
              <a:rPr lang="en-US" sz="5799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Exemplos práticos (Cenários)</a:t>
            </a:r>
          </a:p>
        </p:txBody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FC800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1491131" y="2496883"/>
            <a:ext cx="14912671" cy="264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Cenário 1:</a:t>
            </a:r>
            <a:r>
              <a:rPr lang="en-US" sz="2699" b="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Teste de integração</a:t>
            </a:r>
          </a:p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endParaRPr lang="en-US" sz="2699" b="1" u="none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582927" lvl="1" indent="-291463" algn="l">
              <a:lnSpc>
                <a:spcPts val="4670"/>
              </a:lnSpc>
              <a:buFont typeface="Arial"/>
              <a:buChar char="•"/>
            </a:pPr>
            <a:r>
              <a:rPr lang="en-US" sz="2699" b="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Objetivo: </a:t>
            </a:r>
            <a:r>
              <a:rPr lang="en-US" sz="26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identificar problemas de comunicação entre módulos.</a:t>
            </a:r>
          </a:p>
          <a:p>
            <a:pPr marL="582927" lvl="1" indent="-291463" algn="l">
              <a:lnSpc>
                <a:spcPts val="4670"/>
              </a:lnSpc>
              <a:spcBef>
                <a:spcPct val="0"/>
              </a:spcBef>
              <a:buFont typeface="Arial"/>
              <a:buChar char="•"/>
            </a:pPr>
            <a:r>
              <a:rPr lang="en-US" sz="2699" b="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Passos: </a:t>
            </a:r>
            <a:r>
              <a:rPr lang="en-US" sz="26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executar diferentes funcionalidades simultaneamente e observar como interagem.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91131" y="5734050"/>
            <a:ext cx="14912671" cy="2598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Cenário 2:</a:t>
            </a:r>
            <a:r>
              <a:rPr lang="en-US" sz="2699" b="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Teste de estresse</a:t>
            </a:r>
          </a:p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endParaRPr lang="en-US" sz="2699" b="1" u="none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582927" lvl="1" indent="-291463" algn="l">
              <a:lnSpc>
                <a:spcPts val="4535"/>
              </a:lnSpc>
              <a:buFont typeface="Arial"/>
              <a:buChar char="•"/>
            </a:pPr>
            <a:r>
              <a:rPr lang="en-US" sz="2699" b="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Objetivo: </a:t>
            </a:r>
            <a:r>
              <a:rPr lang="en-US" sz="26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avaliar a estabilidade do sistema sob carga pesada.</a:t>
            </a:r>
          </a:p>
          <a:p>
            <a:pPr marL="582927" lvl="1" indent="-291463" algn="l">
              <a:lnSpc>
                <a:spcPts val="4535"/>
              </a:lnSpc>
              <a:buFont typeface="Arial"/>
              <a:buChar char="•"/>
            </a:pPr>
            <a:r>
              <a:rPr lang="en-US" sz="2699" b="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Passos: </a:t>
            </a:r>
            <a:r>
              <a:rPr lang="en-US" sz="26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simular um grande número de usuários acessando simultaneamente a aplicação.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841400" y="97077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10/13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491131" y="1292543"/>
            <a:ext cx="10324804" cy="775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99"/>
              </a:lnSpc>
            </a:pPr>
            <a:r>
              <a:rPr lang="en-US" sz="5799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Limitações e desafios</a:t>
            </a:r>
          </a:p>
        </p:txBody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FC800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1491131" y="2645388"/>
            <a:ext cx="14912671" cy="542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0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Restriçõ</a:t>
            </a:r>
            <a:r>
              <a:rPr lang="en-US" sz="2699" b="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es de tempo e recursos:</a:t>
            </a:r>
            <a:r>
              <a:rPr lang="en-US" sz="26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podem levar horas ou dias.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91131" y="3487438"/>
            <a:ext cx="14912671" cy="1102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5"/>
              </a:lnSpc>
            </a:pP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Depen</a:t>
            </a:r>
            <a:r>
              <a:rPr lang="en-US" sz="2699" b="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dência de habilidades e experiência: </a:t>
            </a:r>
            <a:r>
              <a:rPr lang="en-US" sz="26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testadores juniores ou sem contexto podem falhar.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91131" y="4884946"/>
            <a:ext cx="14912671" cy="1102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5"/>
              </a:lnSpc>
            </a:pP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Document</a:t>
            </a:r>
            <a:r>
              <a:rPr lang="en-US" sz="2699" b="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ação e reprodutibilidade: </a:t>
            </a:r>
            <a:r>
              <a:rPr lang="en-US" sz="26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relatórios vagos dificultam correções e automação.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91131" y="6282455"/>
            <a:ext cx="14912671" cy="530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5"/>
              </a:lnSpc>
            </a:pP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Incertez</a:t>
            </a:r>
            <a:r>
              <a:rPr lang="en-US" sz="2699" b="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 de cobertura: </a:t>
            </a:r>
            <a:r>
              <a:rPr lang="en-US" sz="26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não há métricas objetivas.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91131" y="7108464"/>
            <a:ext cx="14912671" cy="530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5"/>
              </a:lnSpc>
            </a:pP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Pouca rastreabilid</a:t>
            </a:r>
            <a:r>
              <a:rPr lang="en-US" sz="2699" b="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ade: </a:t>
            </a:r>
            <a:r>
              <a:rPr lang="en-US" sz="26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difícil repetir o caminho seguido.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91131" y="7934473"/>
            <a:ext cx="14912671" cy="530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5"/>
              </a:lnSpc>
            </a:pP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Não substitui t</a:t>
            </a:r>
            <a:r>
              <a:rPr lang="en-US" sz="2699" b="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estes formais:</a:t>
            </a:r>
            <a:r>
              <a:rPr lang="en-US" sz="26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requisitos críticos exigem documentação.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841400" y="97077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11/13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28700" y="1247775"/>
            <a:ext cx="5585369" cy="66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30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Referências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135916"/>
            <a:ext cx="15555299" cy="421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FAIOLI, ISRAEL.</a:t>
            </a:r>
            <a:r>
              <a:rPr lang="en-US" sz="2000" b="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TESTES EXPLORATÓRIOS E AUTOMAÇÃO: UM GUIA DIDÁTICO PARA ANALISTAS DE QUALIDADE (QA). MEDIUM. </a:t>
            </a:r>
            <a:r>
              <a:rPr lang="en-US" sz="2000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DISPONÍVEL EM: &lt;HTTPS://MEDIUM.COM/@ISRAFAIOLI/TESTES-EXPLORAT%C3%B3RIOS-E-AUTOMA%C3%A7%C3%A3O-UM-GUIA-DID%C3%A1TICO-PARA-ANALISTAS-DE-QUALIDADE-QA-37E1ECDD67B1&gt;. ACESSO EM: 31 DEZ. 2025.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KUMAR, RISHABH. EXPLORATORY TESTING - TECHNIQUES AND BEST PRACTICES. VIRTUOSOQA.COM. DISPONÍVEL EM: &lt;HTTPS://WWW.VIRTUOSOQA.COM/TESTING-GUIDES/WHAT-IS-EXPLORATORY-TESTING?. ACESSO EM: 31 DEZ. 2025.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GEEKSFORGEEKS. EXPLORATORY TESTING. GEEKSFORGEEKS. DISPONÍVEL EM: &lt;HTTPS://WWW.GEEKSFORGEEKS.ORG/SOFTWARE-TESTING/EXPLORATORY-TESTING/&gt;. ACESSO EM: 31 DEZ. 2025.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HTTPS://WWW.ATLASSIAN.COM/CONTINUOUS-DELIVERY/SOFTWARE-TESTING/EXPLORATORY-TESTING 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HTTPS://MEDIUM.COM/AGILE-OUTSIDE-THE-BOX/EXPLORATORY-TESTING-QUICK-START-942BBF6A738A 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HTTPS://WWW.DEVMEDIA.COM.BR/TESTES-EXPLORATORIOS-TEORIA-E-PRATICA/22791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841400" y="97077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12/13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4529125" y="3995301"/>
            <a:ext cx="9229750" cy="2420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301"/>
              </a:lnSpc>
            </a:pPr>
            <a:r>
              <a:rPr lang="en-US" sz="8944" spc="-70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OBRIGADO PELA ATENÇÃO!</a:t>
            </a:r>
          </a:p>
        </p:txBody>
      </p:sp>
      <p:sp>
        <p:nvSpPr>
          <p:cNvPr id="4" name="Freeform 4"/>
          <p:cNvSpPr/>
          <p:nvPr/>
        </p:nvSpPr>
        <p:spPr>
          <a:xfrm rot="2624332">
            <a:off x="15911219" y="9474683"/>
            <a:ext cx="6570947" cy="3596100"/>
          </a:xfrm>
          <a:custGeom>
            <a:avLst/>
            <a:gdLst/>
            <a:ahLst/>
            <a:cxnLst/>
            <a:rect l="l" t="t" r="r" b="b"/>
            <a:pathLst>
              <a:path w="6570947" h="3596100">
                <a:moveTo>
                  <a:pt x="0" y="0"/>
                </a:moveTo>
                <a:lnTo>
                  <a:pt x="6570946" y="0"/>
                </a:lnTo>
                <a:lnTo>
                  <a:pt x="6570946" y="3596100"/>
                </a:lnTo>
                <a:lnTo>
                  <a:pt x="0" y="35961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13841400" y="97077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1111</Words>
  <Application>Microsoft Office PowerPoint</Application>
  <PresentationFormat>Personalizar</PresentationFormat>
  <Paragraphs>163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1" baseType="lpstr">
      <vt:lpstr>Archivo Black</vt:lpstr>
      <vt:lpstr>Garet Bold</vt:lpstr>
      <vt:lpstr>Garet Light</vt:lpstr>
      <vt:lpstr>Garet</vt:lpstr>
      <vt:lpstr>Calibri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Testes exploratórios</dc:title>
  <cp:lastModifiedBy>Letícia Kamille Vidal Gomes</cp:lastModifiedBy>
  <cp:revision>1</cp:revision>
  <dcterms:created xsi:type="dcterms:W3CDTF">2006-08-16T00:00:00Z</dcterms:created>
  <dcterms:modified xsi:type="dcterms:W3CDTF">2026-01-05T14:36:42Z</dcterms:modified>
  <dc:identifier>DAG85p12xu4</dc:identifier>
</cp:coreProperties>
</file>